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2B28"/>
                </a:solidFill>
                <a:latin typeface="Arial"/>
              </a:rPr>
              <a:t>8 customers: gap vs exact optimum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gap %</c:v>
                </c:pt>
              </c:strCache>
            </c:strRef>
          </c:tx>
          <c:spPr>
            <a:solidFill>
              <a:srgbClr val="0E6B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D2B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QPSO</c:v>
                  </c:pt>
                  <c:pt idx="1">
                    <c:v>SA + split</c:v>
                  </c:pt>
                  <c:pt idx="2">
                    <c:v>SA</c:v>
                  </c:pt>
                  <c:pt idx="3">
                    <c:v>GA</c:v>
                  </c:pt>
                  <c:pt idx="4">
                    <c:v>PSO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0.5</c:v>
                </c:pt>
                <c:pt idx="2">
                  <c:v>1.4</c:v>
                </c:pt>
                <c:pt idx="3">
                  <c:v>5.8</c:v>
                </c:pt>
                <c:pt idx="4">
                  <c:v>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D2B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2B28"/>
                </a:solidFill>
                <a:latin typeface="Arial"/>
              </a:rPr>
              <a:t>20 customers: gap vs best found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gap %</c:v>
                </c:pt>
              </c:strCache>
            </c:strRef>
          </c:tx>
          <c:spPr>
            <a:solidFill>
              <a:srgbClr val="0E6B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D2B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69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QPSO</c:v>
                  </c:pt>
                  <c:pt idx="1">
                    <c:v>SA + split</c:v>
                  </c:pt>
                  <c:pt idx="2">
                    <c:v>SA</c:v>
                  </c:pt>
                  <c:pt idx="3">
                    <c:v>GA</c:v>
                  </c:pt>
                  <c:pt idx="4">
                    <c:v>PSO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8.9</c:v>
                </c:pt>
                <c:pt idx="1">
                  <c:v>16.6</c:v>
                </c:pt>
                <c:pt idx="2">
                  <c:v>18</c:v>
                </c:pt>
                <c:pt idx="3">
                  <c:v>28.3</c:v>
                </c:pt>
                <c:pt idx="4">
                  <c:v>36.9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D2B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</c:v>
                </c:pt>
              </c:strCache>
            </c:strRef>
          </c:tx>
          <c:spPr>
            <a:solidFill>
              <a:srgbClr val="8A96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D2B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50/s2</c:v>
                  </c:pt>
                  <c:pt idx="1">
                    <c:v>50/s3</c:v>
                  </c:pt>
                  <c:pt idx="2">
                    <c:v>50/s5</c:v>
                  </c:pt>
                  <c:pt idx="3">
                    <c:v>100/s1</c:v>
                  </c:pt>
                  <c:pt idx="4">
                    <c:v>100/s2</c:v>
                  </c:pt>
                  <c:pt idx="5">
                    <c:v>200/s1</c:v>
                  </c:pt>
                  <c:pt idx="6">
                    <c:v>200/s2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QPSO</c:v>
                </c:pt>
              </c:strCache>
            </c:strRef>
          </c:tx>
          <c:spPr>
            <a:solidFill>
              <a:srgbClr val="0E6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D2B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50/s2</c:v>
                  </c:pt>
                  <c:pt idx="1">
                    <c:v>50/s3</c:v>
                  </c:pt>
                  <c:pt idx="2">
                    <c:v>50/s5</c:v>
                  </c:pt>
                  <c:pt idx="3">
                    <c:v>100/s1</c:v>
                  </c:pt>
                  <c:pt idx="4">
                    <c:v>100/s2</c:v>
                  </c:pt>
                  <c:pt idx="5">
                    <c:v>200/s1</c:v>
                  </c:pt>
                  <c:pt idx="6">
                    <c:v>200/s2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81</c:v>
                </c:pt>
                <c:pt idx="1">
                  <c:v>94</c:v>
                </c:pt>
                <c:pt idx="2">
                  <c:v>85</c:v>
                </c:pt>
                <c:pt idx="3">
                  <c:v>83</c:v>
                </c:pt>
                <c:pt idx="4">
                  <c:v>86</c:v>
                </c:pt>
                <c:pt idx="5">
                  <c:v>78</c:v>
                </c:pt>
                <c:pt idx="6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D2B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A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statement SIH26137.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685800" cy="6858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Q-FLOW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Quantum-inspired metaheuristic optimisation for intelligent traffic routing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· Problem SIH26137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add team name and members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fleets must route many vehicles through congested roads, under tight constraints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7565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times change with traffic load; a route that is short on a map can be slow at 6 pm.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645920"/>
            <a:ext cx="502920" cy="50292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82" y="17565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NP-hard routing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 with capacity and time windows explodes combinatorially; exact methods only scale to small cases.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175656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hardware is not ready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7889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cannot yet run problems this size, so we use a quantum-inspired algorithm on classical CPUs.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platform: network model, QPSO optimiser, benchmarking, and a real driver app</a:t>
            </a:r>
            <a:endParaRPr lang="en-US" sz="1300" dirty="0"/>
          </a:p>
        </p:txBody>
      </p:sp>
      <p:pic>
        <p:nvPicPr>
          <p:cNvPr id="4" name="Image 0" descr="/tmp/rep/fig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model and formulation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graph with travel-time and distance on every 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(CVRPTW)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Σ distance + 0.4 · Σ route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+ 1500 · capacity overload (kg)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+ 20 · lateness (min)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+ 10000 · extra vehicles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vehicle capacity, customer time windows, depot closing time, fleet size. Every plan is flagged feasible or infeasible with the reason.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147218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traffic (BPR)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6733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t₀ (1 + 0.15 (V/C)⁴) + incident delay; time-of-day and per-road variation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2441448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54203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(TomTom)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distances and live travel times from TomTom Matrix Routing (verified)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3511296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61188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path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0" y="38130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weighted graph; QPSO compared with exact Dijkstra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QPSO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Quantum-behaved particle swarm (Sun, Feng &amp; Xu 2004) plus problem-specific operators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2A25"/>
          </a:solidFill>
          <a:ln w="12700">
            <a:solidFill>
              <a:srgbClr val="0F2A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φ·pBest + (1−φ)·gBest        x ← p ± α·|mBest − x|·ln(1/u)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move in a "quantum potential well" around the attractor p; α falls from 0.95 to 0.50.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523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split decoder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715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each customer order into ≤ K routes at the cheapest break points (dynamic programming)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5237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2715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2-opt, or-opt and swap; Lamarckian, plus elite search on the global best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6667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seeding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097280" y="3858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Time-window-aware constructive tours start 15% of the swarm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3566160"/>
            <a:ext cx="457200" cy="45720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6667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303520" y="3538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budget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303520" y="38587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evaluations, including local search, count against the same budget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benchmark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that the results can be trusted and reproduced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budget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gets the same number of objective evaluations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seeded runs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860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instance; mean, median, spread and feasibility reported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instances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seeds 101–110 only; tested on unseen seeds 1–10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6002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reference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2860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customers: true optimum by enumeration + optimal split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with: simulated annealing (also with the same split decoder, as a fairness check), genetic algorithm, ant colony, classical PSO, Clarke-Wright and an exact solver.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8 and 20 customers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instances, mean gap (lower is better)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657600" y="128016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0866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7086600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exact optimum at 8 customers; best on 9 of 10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08660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7086600" y="3291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18.0% for SA at 20 customers; wins 8 of 10 (&gt; 2 SE)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+ split = simulated annealing given the same decoder as QPSO.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50 to 200 customers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route cost of QPSO relative to SA (= 100) on instances that can be served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25880"/>
            <a:ext cx="2926080" cy="3017520"/>
          </a:xfrm>
          <a:prstGeom prst="roundRect">
            <a:avLst>
              <a:gd name="adj" fmla="val 2500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463040"/>
            <a:ext cx="2606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QPSO is 6–23% cheaper than SA on every serviceable instance shown.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customers overall: tie on mean gap (74.9% vs 73.7%); QPSO wins 3 of 5.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Over-capacity instances (demand &gt; fleet): SA leaves less overload.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100/200 customers: 3 instances each, preliminary.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QPSO keeps improving where simulated annealing stalls</a:t>
            </a:r>
            <a:endParaRPr lang="en-US" sz="1300" dirty="0"/>
          </a:p>
        </p:txBody>
      </p:sp>
      <p:pic>
        <p:nvPicPr>
          <p:cNvPr id="4" name="Image 0" descr="/tmp/rep/fig/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577840" cy="20452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QPSO runs get within 5% of the best known solution (SA: 18%)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200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of QPSO beat 12,000 of SA at 20 customers (10.2% vs 15.3% gap)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QPSO is slower per run in wall-clock time (0.1 s vs 0.01 s at 20 customers; 12 s vs 0.3 s at 200).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and Android app, built on the same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599286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VRP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stops on a Hyderabad map; compare 6 algorithms; feasibility and convergence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5087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599286"/>
            <a:ext cx="230429" cy="23042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lab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Formulation, exact comparison, shortest path, dynamic re-planning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599286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TomTom traffic, incidents and live travel times (verified 6/6)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6" y="3199486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Real-GPS navigation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Turn-by-turn, heading-up camera, automatic rerouting, voice, arrival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1089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526" y="3199486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7764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re-planning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QPSO warm start: a new plan is never worse than the old one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108960"/>
            <a:ext cx="411480" cy="411480"/>
          </a:xfrm>
          <a:prstGeom prst="ellipse">
            <a:avLst/>
          </a:prstGeom>
          <a:solidFill>
            <a:srgbClr val="0E6B5C"/>
          </a:solidFill>
          <a:ln w="12700">
            <a:solidFill>
              <a:srgbClr val="0E6B5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446" y="3199486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6656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C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automated test files; every number labelled live, estimated or simulated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today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per run than SA (quality per evaluation, not speed)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SA on over-capacity and the tightest 50+ customer fleets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solver up to 9 customers; no MILP yet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100/200-customer results are preliminary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instances; lab uses straight-line distances unless live traffic is 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7EFEC"/>
          </a:solidFill>
          <a:ln w="12700">
            <a:solidFill>
              <a:srgbClr val="E7EF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split decoder and Web Workers to cut run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100–500 customers on more instances, vs OR-Tools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capacity penalty for over-capacity fleets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D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real delivery data from a Hyderabad fleet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Q-FLOW · SIH26137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reproducible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73F37"/>
          </a:solidFill>
          <a:ln w="12700">
            <a:solidFill>
              <a:srgbClr val="173F3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23444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automated test files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73F37"/>
          </a:solidFill>
          <a:ln w="12700">
            <a:solidFill>
              <a:srgbClr val="173F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9280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bench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89280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benchmark (deterministic)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73F37"/>
          </a:solidFill>
          <a:ln w="12700">
            <a:solidFill>
              <a:srgbClr val="173F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5117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scripts/extra-experiments.js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55117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+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173F37"/>
          </a:solidFill>
          <a:ln w="12700">
            <a:solidFill>
              <a:srgbClr val="173F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095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android:apk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20954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build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2344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platform (web + Android)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QPSO framework + 5 baselines + exact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Formulation, constraints, convergence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report + technical report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presentation; demo video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Q-FLOW SIH26137</dc:title>
  <dc:subject>PptxGenJS Presentation</dc:subject>
  <dc:creator>PptxGenJS</dc:creator>
  <cp:lastModifiedBy>PptxGenJS</cp:lastModifiedBy>
  <cp:revision>1</cp:revision>
  <dcterms:created xsi:type="dcterms:W3CDTF">2026-10-03T05:34:52Z</dcterms:created>
  <dcterms:modified xsi:type="dcterms:W3CDTF">2026-10-03T05:34:52Z</dcterms:modified>
</cp:coreProperties>
</file>